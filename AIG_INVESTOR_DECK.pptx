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C2A8">
              <a:alpha val="16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0" y="1524000"/>
            <a:ext cx="7239000" cy="7239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04878" y="514350"/>
            <a:ext cx="81632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58" kern="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algn="l" indent="0" marL="0">
              <a:buNone/>
            </a:pPr>
            <a:r>
              <a:rPr lang="en-US" sz="1125" spc="158" kern="0" dirty="0">
                <a:solidFill>
                  <a:srgbClr val="B4C8F0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08</a:t>
            </a:r>
            <a:endParaRPr lang="en-US" sz="1125" dirty="0"/>
          </a:p>
        </p:txBody>
      </p:sp>
      <p:sp>
        <p:nvSpPr>
          <p:cNvPr id="5" name="Shape 2"/>
          <p:cNvSpPr/>
          <p:nvPr/>
        </p:nvSpPr>
        <p:spPr>
          <a:xfrm>
            <a:off x="1143000" y="914400"/>
            <a:ext cx="514350" cy="514350"/>
          </a:xfrm>
          <a:prstGeom prst="ellipse">
            <a:avLst/>
          </a:prstGeom>
          <a:solidFill>
            <a:srgbClr val="00C2A8"/>
          </a:solidFill>
          <a:ln/>
          <a:effectLst>
            <a:outerShdw sx="100000" sy="100000" kx="0" ky="0" algn="bl" rotWithShape="0" blurRad="101600" dist="50800" dir="16200000">
              <a:srgbClr val="00C2A8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143000" y="91440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828800" y="1059656"/>
            <a:ext cx="549399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432" kern="0" dirty="0">
                <a:solidFill>
                  <a:srgbClr val="EA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43000" y="6094604"/>
            <a:ext cx="16482060" cy="1670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300" b="1" spc="-158" kern="0" dirty="0">
                <a:solidFill>
                  <a:srgbClr val="EA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 Invisible Gateway</a:t>
            </a:r>
            <a:endParaRPr lang="en-US" sz="6300" dirty="0"/>
          </a:p>
        </p:txBody>
      </p:sp>
      <p:sp>
        <p:nvSpPr>
          <p:cNvPr id="9" name="Text 6"/>
          <p:cNvSpPr/>
          <p:nvPr/>
        </p:nvSpPr>
        <p:spPr>
          <a:xfrm>
            <a:off x="1143000" y="8013764"/>
            <a:ext cx="7402441" cy="783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025" dirty="0">
                <a:solidFill>
                  <a:srgbClr val="CEDAF6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Stripe-class USDC payments for Arc merchants — powered by Circle CCTPv2.</a:t>
            </a:r>
            <a:endParaRPr lang="en-US" sz="2025" dirty="0"/>
          </a:p>
        </p:txBody>
      </p:sp>
      <p:sp>
        <p:nvSpPr>
          <p:cNvPr id="10" name="Text 7"/>
          <p:cNvSpPr/>
          <p:nvPr/>
        </p:nvSpPr>
        <p:spPr>
          <a:xfrm>
            <a:off x="1143000" y="9277008"/>
            <a:ext cx="1149325" cy="2143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BACAEE">
                    <a:alpha val="7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Baobao Gems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349475" y="9277008"/>
            <a:ext cx="173757" cy="2143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580382" y="9277008"/>
            <a:ext cx="2514972" cy="2143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BACAEE">
                    <a:alpha val="7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 Chi Minh City, Vietnam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152504" y="9277008"/>
            <a:ext cx="173757" cy="2143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383411" y="9277008"/>
            <a:ext cx="2222376" cy="2143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BACAEE">
                    <a:alpha val="7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Circle Developer Grant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662937" y="9277008"/>
            <a:ext cx="173757" cy="2143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893844" y="9277008"/>
            <a:ext cx="954212" cy="2143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BACAEE">
                    <a:alpha val="7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04878" y="514350"/>
            <a:ext cx="81632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737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08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1143000" y="914400"/>
            <a:ext cx="1648206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64" kern="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43000" y="1319229"/>
            <a:ext cx="7179783" cy="1266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b="1" spc="-102" kern="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 merchants lose customers at checkout.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1143000" y="2718957"/>
            <a:ext cx="11064916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425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Stablecoin liquidity sits on Ethereum, Polygon, Base — not Arc. Every cross-chain step costs a merchant a conversion.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1143000" y="6615999"/>
            <a:ext cx="5143500" cy="2833688"/>
          </a:xfrm>
          <a:prstGeom prst="roundRect">
            <a:avLst>
              <a:gd name="adj" fmla="val 6050"/>
            </a:avLst>
          </a:prstGeom>
          <a:solidFill>
            <a:srgbClr val="FFFFFF"/>
          </a:solidFill>
          <a:ln w="9525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9525" dir="5400000">
              <a:srgbClr val="0F1B3D">
                <a:alpha val="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95425" y="6987474"/>
            <a:ext cx="514350" cy="514350"/>
          </a:xfrm>
          <a:prstGeom prst="roundRect">
            <a:avLst>
              <a:gd name="adj" fmla="val 24074"/>
            </a:avLst>
          </a:prstGeom>
          <a:solidFill>
            <a:srgbClr val="4F46E5">
              <a:alpha val="8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7111299"/>
            <a:ext cx="26670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95425" y="7749474"/>
            <a:ext cx="45718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05" kern="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495425" y="8111424"/>
            <a:ext cx="457181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19" kern="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bridging</a:t>
            </a:r>
            <a:endParaRPr lang="en-US" sz="1875" dirty="0"/>
          </a:p>
        </p:txBody>
      </p:sp>
      <p:sp>
        <p:nvSpPr>
          <p:cNvPr id="11" name="Text 8"/>
          <p:cNvSpPr/>
          <p:nvPr/>
        </p:nvSpPr>
        <p:spPr>
          <a:xfrm>
            <a:off x="1495425" y="8516237"/>
            <a:ext cx="457181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737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must move USDC to Arc themselves before paying. Most won't.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6572250" y="6615999"/>
            <a:ext cx="5143500" cy="2833688"/>
          </a:xfrm>
          <a:prstGeom prst="roundRect">
            <a:avLst>
              <a:gd name="adj" fmla="val 6050"/>
            </a:avLst>
          </a:prstGeom>
          <a:solidFill>
            <a:srgbClr val="FFFFFF"/>
          </a:solidFill>
          <a:ln w="9525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9525" dir="5400000">
              <a:srgbClr val="0F1B3D">
                <a:alpha val="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924675" y="6987474"/>
            <a:ext cx="514350" cy="514350"/>
          </a:xfrm>
          <a:prstGeom prst="roundRect">
            <a:avLst>
              <a:gd name="adj" fmla="val 24074"/>
            </a:avLst>
          </a:prstGeom>
          <a:solidFill>
            <a:srgbClr val="4F46E5">
              <a:alpha val="8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0" y="7111299"/>
            <a:ext cx="266700" cy="2667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24675" y="7749474"/>
            <a:ext cx="45718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05" kern="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924675" y="8111424"/>
            <a:ext cx="457181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19" kern="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switching</a:t>
            </a:r>
            <a:endParaRPr lang="en-US" sz="1875" dirty="0"/>
          </a:p>
        </p:txBody>
      </p:sp>
      <p:sp>
        <p:nvSpPr>
          <p:cNvPr id="17" name="Text 13"/>
          <p:cNvSpPr/>
          <p:nvPr/>
        </p:nvSpPr>
        <p:spPr>
          <a:xfrm>
            <a:off x="6924675" y="8516237"/>
            <a:ext cx="457181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737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Multi-chain UX is hostile to retail buyers — too many confirmations, too much risk.</a:t>
            </a:r>
            <a:endParaRPr lang="en-US" sz="1425" dirty="0"/>
          </a:p>
        </p:txBody>
      </p:sp>
      <p:sp>
        <p:nvSpPr>
          <p:cNvPr id="18" name="Shape 14"/>
          <p:cNvSpPr/>
          <p:nvPr/>
        </p:nvSpPr>
        <p:spPr>
          <a:xfrm>
            <a:off x="12001500" y="6615999"/>
            <a:ext cx="5143500" cy="2833688"/>
          </a:xfrm>
          <a:prstGeom prst="roundRect">
            <a:avLst>
              <a:gd name="adj" fmla="val 6050"/>
            </a:avLst>
          </a:prstGeom>
          <a:solidFill>
            <a:srgbClr val="FFFFFF"/>
          </a:solidFill>
          <a:ln w="9525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9525" dir="5400000">
              <a:srgbClr val="0F1B3D">
                <a:alpha val="3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12353925" y="6987474"/>
            <a:ext cx="514350" cy="514350"/>
          </a:xfrm>
          <a:prstGeom prst="roundRect">
            <a:avLst>
              <a:gd name="adj" fmla="val 24074"/>
            </a:avLst>
          </a:prstGeom>
          <a:solidFill>
            <a:srgbClr val="4F46E5">
              <a:alpha val="8000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7750" y="7111299"/>
            <a:ext cx="266700" cy="2667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353925" y="7749474"/>
            <a:ext cx="45718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05" kern="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12353925" y="8111424"/>
            <a:ext cx="457181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19" kern="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Slippage on bridges</a:t>
            </a:r>
            <a:endParaRPr lang="en-US" sz="1875" dirty="0"/>
          </a:p>
        </p:txBody>
      </p:sp>
      <p:sp>
        <p:nvSpPr>
          <p:cNvPr id="23" name="Text 18"/>
          <p:cNvSpPr/>
          <p:nvPr/>
        </p:nvSpPr>
        <p:spPr>
          <a:xfrm>
            <a:off x="12353925" y="8516237"/>
            <a:ext cx="457181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737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bridges add fees and spread. Merchants receive less than the sticker price.</a:t>
            </a:r>
            <a:endParaRPr lang="en-US" sz="14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04878" y="514350"/>
            <a:ext cx="81632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737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08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1143000" y="914400"/>
            <a:ext cx="1648206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64" kern="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43000" y="1319230"/>
            <a:ext cx="7179783" cy="1266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b="1" spc="-102" kern="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link. Two signatures. USDC on Arc.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1143000" y="2718958"/>
            <a:ext cx="11662989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425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AIG is a payment-link gateway purpose-built for Arc merchants — built on Circle CCTPv2 Fast Transfer.</a:t>
            </a:r>
            <a:endParaRPr lang="en-US" sz="18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1550" y="3846169"/>
            <a:ext cx="228600" cy="228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43000" y="3579469"/>
            <a:ext cx="533400" cy="533400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3579469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143000" y="4360519"/>
            <a:ext cx="372808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clicks payment link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143000" y="4722469"/>
            <a:ext cx="3728085" cy="5552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313" dirty="0">
                <a:solidFill>
                  <a:srgbClr val="737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an injected wallet — OKX, MetaMask, any </a:t>
            </a:r>
            <a:pPr algn="l" indent="0" marL="0">
              <a:lnSpc>
                <a:spcPct val="148000"/>
              </a:lnSpc>
              <a:buNone/>
            </a:pPr>
            <a:r>
              <a:rPr lang="en-US" sz="1313" dirty="0">
                <a:solidFill>
                  <a:srgbClr val="737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window.ethereum </a:t>
            </a:r>
            <a:pPr algn="l" indent="0" marL="0">
              <a:lnSpc>
                <a:spcPct val="148000"/>
              </a:lnSpc>
              <a:buNone/>
            </a:pPr>
            <a:r>
              <a:rPr lang="en-US" sz="1313" dirty="0">
                <a:solidFill>
                  <a:srgbClr val="737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wallet.</a:t>
            </a:r>
            <a:endParaRPr lang="en-US" sz="1313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2050" y="3846169"/>
            <a:ext cx="228600" cy="2286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143500" y="3579469"/>
            <a:ext cx="533400" cy="5334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3" name="Text 9"/>
          <p:cNvSpPr/>
          <p:nvPr/>
        </p:nvSpPr>
        <p:spPr>
          <a:xfrm>
            <a:off x="5143500" y="3579469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5143500" y="4360519"/>
            <a:ext cx="372808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Signs approve + depositForBurn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5143500" y="4722469"/>
            <a:ext cx="3728085" cy="53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313" dirty="0">
                <a:solidFill>
                  <a:srgbClr val="737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transactions on the customer's home chain. CCTPv2 Fast Transfer is selected.</a:t>
            </a:r>
            <a:endParaRPr lang="en-US" sz="1313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2550" y="3846169"/>
            <a:ext cx="228600" cy="2286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144000" y="3579469"/>
            <a:ext cx="533400" cy="533400"/>
          </a:xfrm>
          <a:prstGeom prst="ellipse">
            <a:avLst/>
          </a:prstGeom>
          <a:solidFill>
            <a:srgbClr val="22A8E0"/>
          </a:solidFill>
          <a:ln/>
        </p:spPr>
      </p:sp>
      <p:sp>
        <p:nvSpPr>
          <p:cNvPr id="18" name="Text 13"/>
          <p:cNvSpPr/>
          <p:nvPr/>
        </p:nvSpPr>
        <p:spPr>
          <a:xfrm>
            <a:off x="9144000" y="3579469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9144000" y="4360519"/>
            <a:ext cx="372808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relay polls Iris v2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9144000" y="4722469"/>
            <a:ext cx="3728085" cy="53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313" dirty="0">
                <a:solidFill>
                  <a:srgbClr val="737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SSE pipeline waits for attestation (~30–90s), then calls Arc to mint.</a:t>
            </a:r>
            <a:endParaRPr lang="en-US" sz="1313" dirty="0"/>
          </a:p>
        </p:txBody>
      </p:sp>
      <p:sp>
        <p:nvSpPr>
          <p:cNvPr id="21" name="Shape 16"/>
          <p:cNvSpPr/>
          <p:nvPr/>
        </p:nvSpPr>
        <p:spPr>
          <a:xfrm>
            <a:off x="13144500" y="3579469"/>
            <a:ext cx="533400" cy="5334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2" name="Text 17"/>
          <p:cNvSpPr/>
          <p:nvPr/>
        </p:nvSpPr>
        <p:spPr>
          <a:xfrm>
            <a:off x="13144500" y="3579469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50" dirty="0"/>
          </a:p>
        </p:txBody>
      </p:sp>
      <p:sp>
        <p:nvSpPr>
          <p:cNvPr id="23" name="Text 18"/>
          <p:cNvSpPr/>
          <p:nvPr/>
        </p:nvSpPr>
        <p:spPr>
          <a:xfrm>
            <a:off x="13144500" y="4360519"/>
            <a:ext cx="41205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receives exact USDC</a:t>
            </a:r>
            <a:endParaRPr lang="en-US" sz="1650" dirty="0"/>
          </a:p>
        </p:txBody>
      </p:sp>
      <p:sp>
        <p:nvSpPr>
          <p:cNvPr id="24" name="Text 19"/>
          <p:cNvSpPr/>
          <p:nvPr/>
        </p:nvSpPr>
        <p:spPr>
          <a:xfrm>
            <a:off x="13144500" y="4722469"/>
            <a:ext cx="4120515" cy="53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313" dirty="0">
                <a:solidFill>
                  <a:srgbClr val="737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USDC arrives on Arc, paid to merchant address. No bridge fee, no slippage.</a:t>
            </a:r>
            <a:endParaRPr lang="en-US" sz="1313" dirty="0"/>
          </a:p>
        </p:txBody>
      </p:sp>
      <p:sp>
        <p:nvSpPr>
          <p:cNvPr id="25" name="Shape 20"/>
          <p:cNvSpPr/>
          <p:nvPr/>
        </p:nvSpPr>
        <p:spPr>
          <a:xfrm>
            <a:off x="1143000" y="8718899"/>
            <a:ext cx="16002000" cy="733425"/>
          </a:xfrm>
          <a:prstGeom prst="roundRect">
            <a:avLst>
              <a:gd name="adj" fmla="val 20779"/>
            </a:avLst>
          </a:prstGeom>
          <a:solidFill>
            <a:srgbClr val="0F1B3D"/>
          </a:solidFill>
          <a:ln/>
        </p:spPr>
      </p:sp>
      <p:sp>
        <p:nvSpPr>
          <p:cNvPr id="26" name="Text 21"/>
          <p:cNvSpPr/>
          <p:nvPr/>
        </p:nvSpPr>
        <p:spPr>
          <a:xfrm>
            <a:off x="1733550" y="8966549"/>
            <a:ext cx="764004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i="1" spc="-8" kern="0" dirty="0">
                <a:solidFill>
                  <a:srgbClr val="DC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End-to-end: </a:t>
            </a:r>
            <a:pPr algn="l" indent="0" marL="0">
              <a:buNone/>
            </a:pPr>
            <a:r>
              <a:rPr lang="en-US" sz="1575" b="1" spc="-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 in = amount out. </a:t>
            </a:r>
            <a:pPr algn="l" indent="0" marL="0">
              <a:buNone/>
            </a:pPr>
            <a:r>
              <a:rPr lang="en-US" sz="1575" i="1" spc="-8" kern="0" dirty="0">
                <a:solidFill>
                  <a:srgbClr val="DC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DEX, no bridge tokens, no manual recovery.</a:t>
            </a:r>
            <a:endParaRPr lang="en-US" sz="15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04878" y="514350"/>
            <a:ext cx="81632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737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08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1143000" y="762000"/>
            <a:ext cx="1648206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64" kern="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43000" y="1166860"/>
            <a:ext cx="6253357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b="1" spc="-89" kern="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Sepolia → CCTPv2 → Arc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1143000" y="1873199"/>
            <a:ext cx="10662676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425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zones. Five steps. Fully deterministic — no LLM, no AI orchestration.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467475" y="2559075"/>
            <a:ext cx="9525" cy="6671742"/>
          </a:xfrm>
          <a:prstGeom prst="rect">
            <a:avLst/>
          </a:prstGeom>
          <a:solidFill>
            <a:srgbClr val="DDE3F0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2590032"/>
            <a:ext cx="104775" cy="104775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1581150" y="2559075"/>
            <a:ext cx="157809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spc="132" kern="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ETHEREUM SEPOLIA</a:t>
            </a:r>
            <a:endParaRPr lang="en-US" sz="1013" dirty="0"/>
          </a:p>
        </p:txBody>
      </p:sp>
      <p:sp>
        <p:nvSpPr>
          <p:cNvPr id="9" name="Shape 7"/>
          <p:cNvSpPr/>
          <p:nvPr/>
        </p:nvSpPr>
        <p:spPr>
          <a:xfrm>
            <a:off x="6343650" y="5894909"/>
            <a:ext cx="247650" cy="247650"/>
          </a:xfrm>
          <a:prstGeom prst="ellipse">
            <a:avLst/>
          </a:prstGeom>
          <a:solidFill>
            <a:srgbClr val="F5F7F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2700" y="5913959"/>
            <a:ext cx="209550" cy="20955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371600" y="2935313"/>
            <a:ext cx="4867275" cy="1204913"/>
          </a:xfrm>
          <a:prstGeom prst="roundRect">
            <a:avLst>
              <a:gd name="adj" fmla="val 110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114300" dir="5400000">
              <a:srgbClr val="0F1B3D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371600" y="4130700"/>
            <a:ext cx="4867275" cy="9525"/>
          </a:xfrm>
          <a:prstGeom prst="rect">
            <a:avLst/>
          </a:prstGeom>
          <a:solidFill>
            <a:srgbClr val="DDE3F0"/>
          </a:solidFill>
          <a:ln/>
        </p:spPr>
      </p:sp>
      <p:sp>
        <p:nvSpPr>
          <p:cNvPr id="13" name="Shape 10"/>
          <p:cNvSpPr/>
          <p:nvPr/>
        </p:nvSpPr>
        <p:spPr>
          <a:xfrm>
            <a:off x="1371600" y="2935313"/>
            <a:ext cx="4867275" cy="9525"/>
          </a:xfrm>
          <a:prstGeom prst="rect">
            <a:avLst/>
          </a:prstGeom>
          <a:solidFill>
            <a:srgbClr val="DDE3F0"/>
          </a:solidFill>
          <a:ln/>
        </p:spPr>
      </p:sp>
      <p:sp>
        <p:nvSpPr>
          <p:cNvPr id="14" name="Shape 11"/>
          <p:cNvSpPr/>
          <p:nvPr/>
        </p:nvSpPr>
        <p:spPr>
          <a:xfrm>
            <a:off x="1371600" y="2935313"/>
            <a:ext cx="28575" cy="1204913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Shape 12"/>
          <p:cNvSpPr/>
          <p:nvPr/>
        </p:nvSpPr>
        <p:spPr>
          <a:xfrm>
            <a:off x="6229350" y="2935313"/>
            <a:ext cx="9525" cy="1204913"/>
          </a:xfrm>
          <a:prstGeom prst="rect">
            <a:avLst/>
          </a:prstGeom>
          <a:solidFill>
            <a:srgbClr val="DDE3F0"/>
          </a:solidFill>
          <a:ln/>
        </p:spPr>
      </p:sp>
      <p:sp>
        <p:nvSpPr>
          <p:cNvPr id="16" name="Text 13"/>
          <p:cNvSpPr/>
          <p:nvPr/>
        </p:nvSpPr>
        <p:spPr>
          <a:xfrm>
            <a:off x="1609725" y="3154388"/>
            <a:ext cx="4542377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+ OKX wallet</a:t>
            </a:r>
            <a:endParaRPr lang="en-US" sz="1425" dirty="0"/>
          </a:p>
        </p:txBody>
      </p:sp>
      <p:sp>
        <p:nvSpPr>
          <p:cNvPr id="17" name="Text 14"/>
          <p:cNvSpPr/>
          <p:nvPr/>
        </p:nvSpPr>
        <p:spPr>
          <a:xfrm>
            <a:off x="1809750" y="3435375"/>
            <a:ext cx="4342352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38" b="1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</a:t>
            </a:r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approve(TokenMessenger, amount)</a:t>
            </a:r>
            <a:endParaRPr lang="en-US" sz="938" dirty="0"/>
          </a:p>
        </p:txBody>
      </p:sp>
      <p:sp>
        <p:nvSpPr>
          <p:cNvPr id="18" name="Text 15"/>
          <p:cNvSpPr/>
          <p:nvPr/>
        </p:nvSpPr>
        <p:spPr>
          <a:xfrm>
            <a:off x="1809750" y="3668738"/>
            <a:ext cx="4342352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38" b="1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</a:t>
            </a:r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depositForBurn(7 args, destDomain = 26)</a:t>
            </a:r>
            <a:endParaRPr lang="en-US" sz="938" dirty="0"/>
          </a:p>
        </p:txBody>
      </p:sp>
      <p:sp>
        <p:nvSpPr>
          <p:cNvPr id="19" name="Shape 16"/>
          <p:cNvSpPr/>
          <p:nvPr/>
        </p:nvSpPr>
        <p:spPr>
          <a:xfrm>
            <a:off x="1371600" y="4311675"/>
            <a:ext cx="4867275" cy="1377478"/>
          </a:xfrm>
          <a:prstGeom prst="roundRect">
            <a:avLst>
              <a:gd name="adj" fmla="val 96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114300" dir="5400000">
              <a:srgbClr val="0F1B3D">
                <a:alpha val="3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371600" y="5679629"/>
            <a:ext cx="4867275" cy="9525"/>
          </a:xfrm>
          <a:prstGeom prst="rect">
            <a:avLst/>
          </a:prstGeom>
          <a:solidFill>
            <a:srgbClr val="DDE3F0"/>
          </a:solidFill>
          <a:ln/>
        </p:spPr>
      </p:sp>
      <p:sp>
        <p:nvSpPr>
          <p:cNvPr id="21" name="Shape 18"/>
          <p:cNvSpPr/>
          <p:nvPr/>
        </p:nvSpPr>
        <p:spPr>
          <a:xfrm>
            <a:off x="1371600" y="4311675"/>
            <a:ext cx="4867275" cy="9525"/>
          </a:xfrm>
          <a:prstGeom prst="rect">
            <a:avLst/>
          </a:prstGeom>
          <a:solidFill>
            <a:srgbClr val="DDE3F0"/>
          </a:solidFill>
          <a:ln/>
        </p:spPr>
      </p:sp>
      <p:sp>
        <p:nvSpPr>
          <p:cNvPr id="22" name="Shape 19"/>
          <p:cNvSpPr/>
          <p:nvPr/>
        </p:nvSpPr>
        <p:spPr>
          <a:xfrm>
            <a:off x="1371600" y="4311675"/>
            <a:ext cx="28575" cy="137747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3" name="Shape 20"/>
          <p:cNvSpPr/>
          <p:nvPr/>
        </p:nvSpPr>
        <p:spPr>
          <a:xfrm>
            <a:off x="6229350" y="4311675"/>
            <a:ext cx="9525" cy="1377478"/>
          </a:xfrm>
          <a:prstGeom prst="rect">
            <a:avLst/>
          </a:prstGeom>
          <a:solidFill>
            <a:srgbClr val="DDE3F0"/>
          </a:solidFill>
          <a:ln/>
        </p:spPr>
      </p:sp>
      <p:sp>
        <p:nvSpPr>
          <p:cNvPr id="24" name="Text 21"/>
          <p:cNvSpPr/>
          <p:nvPr/>
        </p:nvSpPr>
        <p:spPr>
          <a:xfrm>
            <a:off x="1609725" y="4530750"/>
            <a:ext cx="4542377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TokenMessenger </a:t>
            </a:r>
            <a:pPr algn="l" indent="0" marL="0">
              <a:buNone/>
            </a:pPr>
            <a:r>
              <a:rPr lang="en-US" sz="1200" spc="-14" kern="0" dirty="0">
                <a:solidFill>
                  <a:srgbClr val="737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(CCTPv2)</a:t>
            </a:r>
            <a:endParaRPr lang="en-US" sz="1425" dirty="0"/>
          </a:p>
        </p:txBody>
      </p:sp>
      <p:sp>
        <p:nvSpPr>
          <p:cNvPr id="25" name="Text 22"/>
          <p:cNvSpPr/>
          <p:nvPr/>
        </p:nvSpPr>
        <p:spPr>
          <a:xfrm>
            <a:off x="1609725" y="4811738"/>
            <a:ext cx="4542377" cy="2383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88" dirty="0">
                <a:solidFill>
                  <a:srgbClr val="737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Burns USDC · emits MessageSent</a:t>
            </a:r>
            <a:endParaRPr lang="en-US" sz="1088" dirty="0"/>
          </a:p>
        </p:txBody>
      </p:sp>
      <p:sp>
        <p:nvSpPr>
          <p:cNvPr id="26" name="Shape 23"/>
          <p:cNvSpPr/>
          <p:nvPr/>
        </p:nvSpPr>
        <p:spPr>
          <a:xfrm>
            <a:off x="1609725" y="5221536"/>
            <a:ext cx="1749103" cy="229493"/>
          </a:xfrm>
          <a:prstGeom prst="roundRect">
            <a:avLst>
              <a:gd name="adj" fmla="val 24903"/>
            </a:avLst>
          </a:prstGeom>
          <a:solidFill>
            <a:srgbClr val="4F46E5">
              <a:alpha val="7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1695450" y="5259636"/>
            <a:ext cx="1653853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frontend/lib/cctp-abi.ts</a:t>
            </a:r>
            <a:endParaRPr lang="en-US" sz="863" dirty="0"/>
          </a:p>
        </p:txBody>
      </p:sp>
      <p:sp>
        <p:nvSpPr>
          <p:cNvPr id="28" name="Shape 25"/>
          <p:cNvSpPr/>
          <p:nvPr/>
        </p:nvSpPr>
        <p:spPr>
          <a:xfrm>
            <a:off x="11801475" y="2559075"/>
            <a:ext cx="9525" cy="6671742"/>
          </a:xfrm>
          <a:prstGeom prst="rect">
            <a:avLst/>
          </a:prstGeom>
          <a:solidFill>
            <a:srgbClr val="DDE3F0"/>
          </a:solidFill>
          <a:ln/>
        </p:spPr>
      </p:sp>
      <p:sp>
        <p:nvSpPr>
          <p:cNvPr id="29" name="Shape 26"/>
          <p:cNvSpPr/>
          <p:nvPr/>
        </p:nvSpPr>
        <p:spPr>
          <a:xfrm>
            <a:off x="6705600" y="2590032"/>
            <a:ext cx="104775" cy="104775"/>
          </a:xfrm>
          <a:prstGeom prst="ellipse">
            <a:avLst/>
          </a:prstGeom>
          <a:solidFill>
            <a:srgbClr val="22A8E0"/>
          </a:solidFill>
          <a:ln/>
        </p:spPr>
      </p:sp>
      <p:sp>
        <p:nvSpPr>
          <p:cNvPr id="30" name="Text 27"/>
          <p:cNvSpPr/>
          <p:nvPr/>
        </p:nvSpPr>
        <p:spPr>
          <a:xfrm>
            <a:off x="6915150" y="2559075"/>
            <a:ext cx="204742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spc="132" kern="0" dirty="0">
                <a:solidFill>
                  <a:srgbClr val="22A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CIRCLE INFRASTRUCTURE</a:t>
            </a:r>
            <a:endParaRPr lang="en-US" sz="1013" dirty="0"/>
          </a:p>
        </p:txBody>
      </p:sp>
      <p:sp>
        <p:nvSpPr>
          <p:cNvPr id="31" name="Shape 28"/>
          <p:cNvSpPr/>
          <p:nvPr/>
        </p:nvSpPr>
        <p:spPr>
          <a:xfrm>
            <a:off x="11677650" y="5894909"/>
            <a:ext cx="247650" cy="247650"/>
          </a:xfrm>
          <a:prstGeom prst="ellipse">
            <a:avLst/>
          </a:prstGeom>
          <a:solidFill>
            <a:srgbClr val="F5F7FB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6700" y="5913959"/>
            <a:ext cx="209550" cy="209550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6705600" y="2935313"/>
            <a:ext cx="4867275" cy="1377479"/>
          </a:xfrm>
          <a:prstGeom prst="roundRect">
            <a:avLst>
              <a:gd name="adj" fmla="val 9681"/>
            </a:avLst>
          </a:prstGeom>
          <a:solidFill>
            <a:srgbClr val="F2F9FD"/>
          </a:solidFill>
          <a:ln/>
          <a:effectLst>
            <a:outerShdw sx="100000" sy="100000" kx="0" ky="0" algn="bl" rotWithShape="0" blurRad="285750" dist="114300" dir="5400000">
              <a:srgbClr val="0F1B3D">
                <a:alpha val="30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6705600" y="4303267"/>
            <a:ext cx="4867275" cy="9525"/>
          </a:xfrm>
          <a:prstGeom prst="rect">
            <a:avLst/>
          </a:prstGeom>
          <a:solidFill>
            <a:srgbClr val="CDE8F6"/>
          </a:solidFill>
          <a:ln/>
        </p:spPr>
      </p:sp>
      <p:sp>
        <p:nvSpPr>
          <p:cNvPr id="35" name="Shape 31"/>
          <p:cNvSpPr/>
          <p:nvPr/>
        </p:nvSpPr>
        <p:spPr>
          <a:xfrm>
            <a:off x="6705600" y="2935313"/>
            <a:ext cx="4867275" cy="9525"/>
          </a:xfrm>
          <a:prstGeom prst="rect">
            <a:avLst/>
          </a:prstGeom>
          <a:solidFill>
            <a:srgbClr val="CDE8F6"/>
          </a:solidFill>
          <a:ln/>
        </p:spPr>
      </p:sp>
      <p:sp>
        <p:nvSpPr>
          <p:cNvPr id="36" name="Shape 32"/>
          <p:cNvSpPr/>
          <p:nvPr/>
        </p:nvSpPr>
        <p:spPr>
          <a:xfrm>
            <a:off x="6705600" y="2935313"/>
            <a:ext cx="28575" cy="1377479"/>
          </a:xfrm>
          <a:prstGeom prst="rect">
            <a:avLst/>
          </a:prstGeom>
          <a:solidFill>
            <a:srgbClr val="22A8E0"/>
          </a:solidFill>
          <a:ln/>
        </p:spPr>
      </p:sp>
      <p:sp>
        <p:nvSpPr>
          <p:cNvPr id="37" name="Shape 33"/>
          <p:cNvSpPr/>
          <p:nvPr/>
        </p:nvSpPr>
        <p:spPr>
          <a:xfrm>
            <a:off x="11563350" y="2935313"/>
            <a:ext cx="9525" cy="1377479"/>
          </a:xfrm>
          <a:prstGeom prst="rect">
            <a:avLst/>
          </a:prstGeom>
          <a:solidFill>
            <a:srgbClr val="CDE8F6"/>
          </a:solidFill>
          <a:ln/>
        </p:spPr>
      </p:sp>
      <p:sp>
        <p:nvSpPr>
          <p:cNvPr id="38" name="Text 34"/>
          <p:cNvSpPr/>
          <p:nvPr/>
        </p:nvSpPr>
        <p:spPr>
          <a:xfrm>
            <a:off x="6943725" y="3154388"/>
            <a:ext cx="4542377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Iris v2</a:t>
            </a:r>
            <a:endParaRPr lang="en-US" sz="1425" dirty="0"/>
          </a:p>
        </p:txBody>
      </p:sp>
      <p:sp>
        <p:nvSpPr>
          <p:cNvPr id="39" name="Text 35"/>
          <p:cNvSpPr/>
          <p:nvPr/>
        </p:nvSpPr>
        <p:spPr>
          <a:xfrm>
            <a:off x="6943725" y="3435375"/>
            <a:ext cx="4542377" cy="2383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88" dirty="0">
                <a:solidFill>
                  <a:srgbClr val="737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Attestation service · Fast Transfer</a:t>
            </a:r>
            <a:endParaRPr lang="en-US" sz="1088" dirty="0"/>
          </a:p>
        </p:txBody>
      </p:sp>
      <p:sp>
        <p:nvSpPr>
          <p:cNvPr id="40" name="Shape 36"/>
          <p:cNvSpPr/>
          <p:nvPr/>
        </p:nvSpPr>
        <p:spPr>
          <a:xfrm>
            <a:off x="6943725" y="3845174"/>
            <a:ext cx="2143497" cy="229493"/>
          </a:xfrm>
          <a:prstGeom prst="roundRect">
            <a:avLst>
              <a:gd name="adj" fmla="val 24903"/>
            </a:avLst>
          </a:prstGeom>
          <a:solidFill>
            <a:srgbClr val="22A8E0">
              <a:alpha val="9000"/>
            </a:srgbClr>
          </a:solidFill>
          <a:ln/>
        </p:spPr>
      </p:sp>
      <p:sp>
        <p:nvSpPr>
          <p:cNvPr id="41" name="Text 37"/>
          <p:cNvSpPr/>
          <p:nvPr/>
        </p:nvSpPr>
        <p:spPr>
          <a:xfrm>
            <a:off x="7029450" y="3883274"/>
            <a:ext cx="2048247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22A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iris-api-sandbox.circle.com/v2</a:t>
            </a:r>
            <a:endParaRPr lang="en-US" sz="863" dirty="0"/>
          </a:p>
        </p:txBody>
      </p:sp>
      <p:sp>
        <p:nvSpPr>
          <p:cNvPr id="42" name="Shape 38"/>
          <p:cNvSpPr/>
          <p:nvPr/>
        </p:nvSpPr>
        <p:spPr>
          <a:xfrm>
            <a:off x="6705600" y="4484242"/>
            <a:ext cx="4867275" cy="1539180"/>
          </a:xfrm>
          <a:prstGeom prst="roundRect">
            <a:avLst>
              <a:gd name="adj" fmla="val 86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114300" dir="5400000">
              <a:srgbClr val="0F1B3D">
                <a:alpha val="30000"/>
              </a:srgbClr>
            </a:outerShdw>
          </a:effectLst>
        </p:spPr>
      </p:sp>
      <p:sp>
        <p:nvSpPr>
          <p:cNvPr id="43" name="Shape 39"/>
          <p:cNvSpPr/>
          <p:nvPr/>
        </p:nvSpPr>
        <p:spPr>
          <a:xfrm>
            <a:off x="6705600" y="6013897"/>
            <a:ext cx="4867275" cy="9525"/>
          </a:xfrm>
          <a:prstGeom prst="rect">
            <a:avLst/>
          </a:prstGeom>
          <a:solidFill>
            <a:srgbClr val="DDE3F0"/>
          </a:solidFill>
          <a:ln/>
        </p:spPr>
      </p:sp>
      <p:sp>
        <p:nvSpPr>
          <p:cNvPr id="44" name="Shape 40"/>
          <p:cNvSpPr/>
          <p:nvPr/>
        </p:nvSpPr>
        <p:spPr>
          <a:xfrm>
            <a:off x="6705600" y="4484242"/>
            <a:ext cx="4867275" cy="9525"/>
          </a:xfrm>
          <a:prstGeom prst="rect">
            <a:avLst/>
          </a:prstGeom>
          <a:solidFill>
            <a:srgbClr val="DDE3F0"/>
          </a:solidFill>
          <a:ln/>
        </p:spPr>
      </p:sp>
      <p:sp>
        <p:nvSpPr>
          <p:cNvPr id="45" name="Shape 41"/>
          <p:cNvSpPr/>
          <p:nvPr/>
        </p:nvSpPr>
        <p:spPr>
          <a:xfrm>
            <a:off x="6705600" y="4484242"/>
            <a:ext cx="28575" cy="15391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6" name="Shape 42"/>
          <p:cNvSpPr/>
          <p:nvPr/>
        </p:nvSpPr>
        <p:spPr>
          <a:xfrm>
            <a:off x="11563350" y="4484242"/>
            <a:ext cx="9525" cy="1539180"/>
          </a:xfrm>
          <a:prstGeom prst="rect">
            <a:avLst/>
          </a:prstGeom>
          <a:solidFill>
            <a:srgbClr val="DDE3F0"/>
          </a:solidFill>
          <a:ln/>
        </p:spPr>
      </p:sp>
      <p:sp>
        <p:nvSpPr>
          <p:cNvPr id="47" name="Text 43"/>
          <p:cNvSpPr/>
          <p:nvPr/>
        </p:nvSpPr>
        <p:spPr>
          <a:xfrm>
            <a:off x="6943725" y="4703317"/>
            <a:ext cx="4542377" cy="252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AIG Next.js Server</a:t>
            </a:r>
            <a:endParaRPr lang="en-US" sz="1425" dirty="0"/>
          </a:p>
        </p:txBody>
      </p:sp>
      <p:sp>
        <p:nvSpPr>
          <p:cNvPr id="48" name="Text 44"/>
          <p:cNvSpPr/>
          <p:nvPr/>
        </p:nvSpPr>
        <p:spPr>
          <a:xfrm>
            <a:off x="7143750" y="4984304"/>
            <a:ext cx="4342352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38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 </a:t>
            </a:r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Polls Iris until status = complete</a:t>
            </a:r>
            <a:endParaRPr lang="en-US" sz="938" dirty="0"/>
          </a:p>
        </p:txBody>
      </p:sp>
      <p:sp>
        <p:nvSpPr>
          <p:cNvPr id="49" name="Text 45"/>
          <p:cNvSpPr/>
          <p:nvPr/>
        </p:nvSpPr>
        <p:spPr>
          <a:xfrm>
            <a:off x="7143750" y="5217666"/>
            <a:ext cx="4342352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38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④</a:t>
            </a:r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 wallet calls Arc</a:t>
            </a:r>
            <a:endParaRPr lang="en-US" sz="938" dirty="0"/>
          </a:p>
        </p:txBody>
      </p:sp>
      <p:sp>
        <p:nvSpPr>
          <p:cNvPr id="50" name="Shape 46"/>
          <p:cNvSpPr/>
          <p:nvPr/>
        </p:nvSpPr>
        <p:spPr>
          <a:xfrm>
            <a:off x="6943725" y="5555804"/>
            <a:ext cx="2143497" cy="229493"/>
          </a:xfrm>
          <a:prstGeom prst="roundRect">
            <a:avLst>
              <a:gd name="adj" fmla="val 24903"/>
            </a:avLst>
          </a:prstGeom>
          <a:solidFill>
            <a:srgbClr val="E8A33D">
              <a:alpha val="10000"/>
            </a:srgbClr>
          </a:solidFill>
          <a:ln/>
        </p:spPr>
      </p:sp>
      <p:sp>
        <p:nvSpPr>
          <p:cNvPr id="51" name="Text 47"/>
          <p:cNvSpPr/>
          <p:nvPr/>
        </p:nvSpPr>
        <p:spPr>
          <a:xfrm>
            <a:off x="7029450" y="5593904"/>
            <a:ext cx="2048247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app/api/agent/execute/route.ts</a:t>
            </a:r>
            <a:endParaRPr lang="en-US" sz="863" dirty="0"/>
          </a:p>
        </p:txBody>
      </p:sp>
      <p:sp>
        <p:nvSpPr>
          <p:cNvPr id="52" name="Shape 48"/>
          <p:cNvSpPr/>
          <p:nvPr/>
        </p:nvSpPr>
        <p:spPr>
          <a:xfrm>
            <a:off x="12039600" y="2590032"/>
            <a:ext cx="104775" cy="104775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53" name="Text 49"/>
          <p:cNvSpPr/>
          <p:nvPr/>
        </p:nvSpPr>
        <p:spPr>
          <a:xfrm>
            <a:off x="12249150" y="2559075"/>
            <a:ext cx="110877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spc="132" kern="0" dirty="0">
                <a:solidFill>
                  <a:srgbClr val="069D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 TESTNET</a:t>
            </a:r>
            <a:endParaRPr lang="en-US" sz="1013" dirty="0"/>
          </a:p>
        </p:txBody>
      </p:sp>
      <p:sp>
        <p:nvSpPr>
          <p:cNvPr id="54" name="Shape 50"/>
          <p:cNvSpPr/>
          <p:nvPr/>
        </p:nvSpPr>
        <p:spPr>
          <a:xfrm>
            <a:off x="12039600" y="2935313"/>
            <a:ext cx="4876800" cy="1610841"/>
          </a:xfrm>
          <a:prstGeom prst="roundRect">
            <a:avLst>
              <a:gd name="adj" fmla="val 82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114300" dir="5400000">
              <a:srgbClr val="0F1B3D">
                <a:alpha val="30000"/>
              </a:srgbClr>
            </a:outerShdw>
          </a:effectLst>
        </p:spPr>
      </p:sp>
      <p:sp>
        <p:nvSpPr>
          <p:cNvPr id="55" name="Shape 51"/>
          <p:cNvSpPr/>
          <p:nvPr/>
        </p:nvSpPr>
        <p:spPr>
          <a:xfrm>
            <a:off x="12039600" y="4536629"/>
            <a:ext cx="4876800" cy="9525"/>
          </a:xfrm>
          <a:prstGeom prst="rect">
            <a:avLst/>
          </a:prstGeom>
          <a:solidFill>
            <a:srgbClr val="DDE3F0"/>
          </a:solidFill>
          <a:ln/>
        </p:spPr>
      </p:sp>
      <p:sp>
        <p:nvSpPr>
          <p:cNvPr id="56" name="Shape 52"/>
          <p:cNvSpPr/>
          <p:nvPr/>
        </p:nvSpPr>
        <p:spPr>
          <a:xfrm>
            <a:off x="12039600" y="2935313"/>
            <a:ext cx="4876800" cy="9525"/>
          </a:xfrm>
          <a:prstGeom prst="rect">
            <a:avLst/>
          </a:prstGeom>
          <a:solidFill>
            <a:srgbClr val="DDE3F0"/>
          </a:solidFill>
          <a:ln/>
        </p:spPr>
      </p:sp>
      <p:sp>
        <p:nvSpPr>
          <p:cNvPr id="57" name="Shape 53"/>
          <p:cNvSpPr/>
          <p:nvPr/>
        </p:nvSpPr>
        <p:spPr>
          <a:xfrm>
            <a:off x="12039600" y="2935313"/>
            <a:ext cx="28575" cy="1610841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58" name="Shape 54"/>
          <p:cNvSpPr/>
          <p:nvPr/>
        </p:nvSpPr>
        <p:spPr>
          <a:xfrm>
            <a:off x="16906875" y="2935313"/>
            <a:ext cx="9525" cy="1610841"/>
          </a:xfrm>
          <a:prstGeom prst="rect">
            <a:avLst/>
          </a:prstGeom>
          <a:solidFill>
            <a:srgbClr val="DDE3F0"/>
          </a:solidFill>
          <a:ln/>
        </p:spPr>
      </p:sp>
      <p:sp>
        <p:nvSpPr>
          <p:cNvPr id="59" name="Text 55"/>
          <p:cNvSpPr/>
          <p:nvPr/>
        </p:nvSpPr>
        <p:spPr>
          <a:xfrm>
            <a:off x="12277725" y="3154388"/>
            <a:ext cx="4552188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MessageTransmitter</a:t>
            </a:r>
            <a:endParaRPr lang="en-US" sz="1425" dirty="0"/>
          </a:p>
        </p:txBody>
      </p:sp>
      <p:sp>
        <p:nvSpPr>
          <p:cNvPr id="60" name="Text 56"/>
          <p:cNvSpPr/>
          <p:nvPr/>
        </p:nvSpPr>
        <p:spPr>
          <a:xfrm>
            <a:off x="12277725" y="3435375"/>
            <a:ext cx="4552188" cy="2383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88" dirty="0">
                <a:solidFill>
                  <a:srgbClr val="737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 attestation</a:t>
            </a:r>
            <a:endParaRPr lang="en-US" sz="1088" dirty="0"/>
          </a:p>
        </p:txBody>
      </p:sp>
      <p:sp>
        <p:nvSpPr>
          <p:cNvPr id="61" name="Text 57"/>
          <p:cNvSpPr/>
          <p:nvPr/>
        </p:nvSpPr>
        <p:spPr>
          <a:xfrm>
            <a:off x="12477750" y="3740399"/>
            <a:ext cx="435216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38" b="1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⑤ </a:t>
            </a:r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receiveMessage() mints USDC</a:t>
            </a:r>
            <a:endParaRPr lang="en-US" sz="938" dirty="0"/>
          </a:p>
        </p:txBody>
      </p:sp>
      <p:sp>
        <p:nvSpPr>
          <p:cNvPr id="62" name="Shape 58"/>
          <p:cNvSpPr/>
          <p:nvPr/>
        </p:nvSpPr>
        <p:spPr>
          <a:xfrm>
            <a:off x="12277725" y="4078536"/>
            <a:ext cx="1486123" cy="229493"/>
          </a:xfrm>
          <a:prstGeom prst="roundRect">
            <a:avLst>
              <a:gd name="adj" fmla="val 24903"/>
            </a:avLst>
          </a:prstGeom>
          <a:solidFill>
            <a:srgbClr val="00C2A8">
              <a:alpha val="10000"/>
            </a:srgbClr>
          </a:solidFill>
          <a:ln/>
        </p:spPr>
      </p:sp>
      <p:sp>
        <p:nvSpPr>
          <p:cNvPr id="63" name="Text 59"/>
          <p:cNvSpPr/>
          <p:nvPr/>
        </p:nvSpPr>
        <p:spPr>
          <a:xfrm>
            <a:off x="12363450" y="4116636"/>
            <a:ext cx="1390873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069D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frontend/lib/cctp.ts</a:t>
            </a:r>
            <a:endParaRPr lang="en-US" sz="863" dirty="0"/>
          </a:p>
        </p:txBody>
      </p:sp>
      <p:sp>
        <p:nvSpPr>
          <p:cNvPr id="64" name="Shape 60"/>
          <p:cNvSpPr/>
          <p:nvPr/>
        </p:nvSpPr>
        <p:spPr>
          <a:xfrm>
            <a:off x="12039600" y="4717604"/>
            <a:ext cx="4876800" cy="1062260"/>
          </a:xfrm>
          <a:prstGeom prst="roundRect">
            <a:avLst>
              <a:gd name="adj" fmla="val 12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114300" dir="5400000">
              <a:srgbClr val="0F1B3D">
                <a:alpha val="30000"/>
              </a:srgbClr>
            </a:outerShdw>
          </a:effectLst>
        </p:spPr>
      </p:sp>
      <p:sp>
        <p:nvSpPr>
          <p:cNvPr id="65" name="Shape 61"/>
          <p:cNvSpPr/>
          <p:nvPr/>
        </p:nvSpPr>
        <p:spPr>
          <a:xfrm>
            <a:off x="12039600" y="5770340"/>
            <a:ext cx="4876800" cy="9525"/>
          </a:xfrm>
          <a:prstGeom prst="rect">
            <a:avLst/>
          </a:prstGeom>
          <a:solidFill>
            <a:srgbClr val="DDE3F0"/>
          </a:solidFill>
          <a:ln/>
        </p:spPr>
      </p:sp>
      <p:sp>
        <p:nvSpPr>
          <p:cNvPr id="66" name="Shape 62"/>
          <p:cNvSpPr/>
          <p:nvPr/>
        </p:nvSpPr>
        <p:spPr>
          <a:xfrm>
            <a:off x="12039600" y="4717604"/>
            <a:ext cx="4876800" cy="9525"/>
          </a:xfrm>
          <a:prstGeom prst="rect">
            <a:avLst/>
          </a:prstGeom>
          <a:solidFill>
            <a:srgbClr val="DDE3F0"/>
          </a:solidFill>
          <a:ln/>
        </p:spPr>
      </p:sp>
      <p:sp>
        <p:nvSpPr>
          <p:cNvPr id="67" name="Shape 63"/>
          <p:cNvSpPr/>
          <p:nvPr/>
        </p:nvSpPr>
        <p:spPr>
          <a:xfrm>
            <a:off x="12039600" y="4717604"/>
            <a:ext cx="28575" cy="106226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68" name="Shape 64"/>
          <p:cNvSpPr/>
          <p:nvPr/>
        </p:nvSpPr>
        <p:spPr>
          <a:xfrm>
            <a:off x="16906875" y="4717604"/>
            <a:ext cx="9525" cy="1062260"/>
          </a:xfrm>
          <a:prstGeom prst="rect">
            <a:avLst/>
          </a:prstGeom>
          <a:solidFill>
            <a:srgbClr val="DDE3F0"/>
          </a:solidFill>
          <a:ln/>
        </p:spPr>
      </p:sp>
      <p:sp>
        <p:nvSpPr>
          <p:cNvPr id="69" name="Text 65"/>
          <p:cNvSpPr/>
          <p:nvPr/>
        </p:nvSpPr>
        <p:spPr>
          <a:xfrm>
            <a:off x="12277725" y="4936679"/>
            <a:ext cx="4552188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Wallet</a:t>
            </a:r>
            <a:endParaRPr lang="en-US" sz="1425" dirty="0"/>
          </a:p>
        </p:txBody>
      </p:sp>
      <p:sp>
        <p:nvSpPr>
          <p:cNvPr id="70" name="Text 66"/>
          <p:cNvSpPr/>
          <p:nvPr/>
        </p:nvSpPr>
        <p:spPr>
          <a:xfrm>
            <a:off x="12277725" y="5217666"/>
            <a:ext cx="4552188" cy="257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88" dirty="0">
                <a:solidFill>
                  <a:srgbClr val="737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 on Arc · </a:t>
            </a:r>
            <a:pPr algn="l" indent="0" marL="0">
              <a:lnSpc>
                <a:spcPct val="145000"/>
              </a:lnSpc>
              <a:buNone/>
            </a:pPr>
            <a:r>
              <a:rPr lang="en-US" sz="1088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 ID 26</a:t>
            </a:r>
            <a:endParaRPr lang="en-US" sz="1088" dirty="0"/>
          </a:p>
        </p:txBody>
      </p:sp>
      <p:sp>
        <p:nvSpPr>
          <p:cNvPr id="71" name="Text 67"/>
          <p:cNvSpPr/>
          <p:nvPr/>
        </p:nvSpPr>
        <p:spPr>
          <a:xfrm>
            <a:off x="1143000" y="9500386"/>
            <a:ext cx="91871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b="1" spc="11" kern="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 stack</a:t>
            </a:r>
            <a:endParaRPr lang="en-US" sz="1088" dirty="0"/>
          </a:p>
        </p:txBody>
      </p:sp>
      <p:sp>
        <p:nvSpPr>
          <p:cNvPr id="72" name="Text 68"/>
          <p:cNvSpPr/>
          <p:nvPr/>
        </p:nvSpPr>
        <p:spPr>
          <a:xfrm>
            <a:off x="2099816" y="9512292"/>
            <a:ext cx="685641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spc="11" kern="0" dirty="0">
                <a:solidFill>
                  <a:srgbClr val="737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Next.js 16 · viem 2 · wagmi 3 · Supabase · raw fetch to Iris v2 (no Circle SDK)</a:t>
            </a:r>
            <a:endParaRPr lang="en-US" sz="108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C2A8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6404878" y="514350"/>
            <a:ext cx="81632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58" kern="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algn="l" indent="0" marL="0">
              <a:buNone/>
            </a:pPr>
            <a:r>
              <a:rPr lang="en-US" sz="1125" spc="158" kern="0" dirty="0">
                <a:solidFill>
                  <a:srgbClr val="B4C8F0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08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143000" y="914400"/>
            <a:ext cx="1648206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64" kern="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TRACTION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1319262"/>
            <a:ext cx="7179783" cy="1266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b="1" spc="-102" kern="0" dirty="0">
                <a:solidFill>
                  <a:srgbClr val="EA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end-to-end on testnet.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143000" y="2718991"/>
            <a:ext cx="11064916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CEDAF6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test: 1 USDC settled from Ethereum Sepolia to Arc Testnet — 2 June 2026.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1143000" y="3655876"/>
            <a:ext cx="3800475" cy="2078310"/>
          </a:xfrm>
          <a:prstGeom prst="roundRect">
            <a:avLst>
              <a:gd name="adj" fmla="val 8249"/>
            </a:avLst>
          </a:prstGeom>
          <a:solidFill>
            <a:srgbClr val="223462">
              <a:alpha val="50000"/>
            </a:srgbClr>
          </a:solidFill>
          <a:ln w="9525">
            <a:solidFill>
              <a:srgbClr val="7896D2">
                <a:alpha val="2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57325" y="4027351"/>
            <a:ext cx="32669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96AAD7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SETTLEMENT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1457325" y="4170226"/>
            <a:ext cx="326698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spc="-252" kern="0" dirty="0">
                <a:solidFill>
                  <a:srgbClr val="5FE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~45s</a:t>
            </a:r>
            <a:endParaRPr lang="en-US" sz="6300" dirty="0"/>
          </a:p>
        </p:txBody>
      </p:sp>
      <p:sp>
        <p:nvSpPr>
          <p:cNvPr id="10" name="Text 8"/>
          <p:cNvSpPr/>
          <p:nvPr/>
        </p:nvSpPr>
        <p:spPr>
          <a:xfrm>
            <a:off x="1457325" y="5141776"/>
            <a:ext cx="3266980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8D6F6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settlement, Sepolia → Arc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210175" y="3655876"/>
            <a:ext cx="3800475" cy="2078310"/>
          </a:xfrm>
          <a:prstGeom prst="roundRect">
            <a:avLst>
              <a:gd name="adj" fmla="val 8249"/>
            </a:avLst>
          </a:prstGeom>
          <a:solidFill>
            <a:srgbClr val="223462">
              <a:alpha val="50000"/>
            </a:srgbClr>
          </a:solidFill>
          <a:ln w="9525">
            <a:solidFill>
              <a:srgbClr val="7896D2">
                <a:alpha val="2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24500" y="4027351"/>
            <a:ext cx="32669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96AAD7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UX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5524500" y="4170226"/>
            <a:ext cx="326698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spc="-25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300" dirty="0"/>
          </a:p>
        </p:txBody>
      </p:sp>
      <p:sp>
        <p:nvSpPr>
          <p:cNvPr id="14" name="Text 12"/>
          <p:cNvSpPr/>
          <p:nvPr/>
        </p:nvSpPr>
        <p:spPr>
          <a:xfrm>
            <a:off x="5524500" y="5141776"/>
            <a:ext cx="3266980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8D6F6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signatures — approve + burn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277350" y="3655876"/>
            <a:ext cx="3800475" cy="2078310"/>
          </a:xfrm>
          <a:prstGeom prst="roundRect">
            <a:avLst>
              <a:gd name="adj" fmla="val 8249"/>
            </a:avLst>
          </a:prstGeom>
          <a:solidFill>
            <a:srgbClr val="223462">
              <a:alpha val="50000"/>
            </a:srgbClr>
          </a:solidFill>
          <a:ln w="9525">
            <a:solidFill>
              <a:srgbClr val="7896D2">
                <a:alpha val="2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91675" y="4027351"/>
            <a:ext cx="32669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96AAD7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TO MERCHANT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9591675" y="4170226"/>
            <a:ext cx="326698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spc="-25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300" dirty="0"/>
          </a:p>
        </p:txBody>
      </p:sp>
      <p:sp>
        <p:nvSpPr>
          <p:cNvPr id="18" name="Text 16"/>
          <p:cNvSpPr/>
          <p:nvPr/>
        </p:nvSpPr>
        <p:spPr>
          <a:xfrm>
            <a:off x="9591675" y="5141776"/>
            <a:ext cx="3266980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8D6F6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fees or slippage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3344525" y="3655876"/>
            <a:ext cx="3800475" cy="2078310"/>
          </a:xfrm>
          <a:prstGeom prst="roundRect">
            <a:avLst>
              <a:gd name="adj" fmla="val 8249"/>
            </a:avLst>
          </a:prstGeom>
          <a:solidFill>
            <a:srgbClr val="223462">
              <a:alpha val="50000"/>
            </a:srgbClr>
          </a:solidFill>
          <a:ln w="9525">
            <a:solidFill>
              <a:srgbClr val="7896D2">
                <a:alpha val="2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658850" y="4027351"/>
            <a:ext cx="32669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96AAD7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 TRANSFER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13658850" y="4170226"/>
            <a:ext cx="326698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spc="-252" kern="0" dirty="0">
                <a:solidFill>
                  <a:srgbClr val="5FE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</a:t>
            </a:r>
            <a:endParaRPr lang="en-US" sz="6300" dirty="0"/>
          </a:p>
        </p:txBody>
      </p:sp>
      <p:sp>
        <p:nvSpPr>
          <p:cNvPr id="22" name="Text 20"/>
          <p:cNvSpPr/>
          <p:nvPr/>
        </p:nvSpPr>
        <p:spPr>
          <a:xfrm>
            <a:off x="13658850" y="5141776"/>
            <a:ext cx="3266980" cy="297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8D6F6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minFinalityThreshold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143000" y="8976536"/>
            <a:ext cx="16002000" cy="9525"/>
          </a:xfrm>
          <a:prstGeom prst="rect">
            <a:avLst/>
          </a:prstGeom>
          <a:solidFill>
            <a:srgbClr val="7896D2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789935" y="9233711"/>
            <a:ext cx="9525" cy="219075"/>
          </a:xfrm>
          <a:prstGeom prst="rect">
            <a:avLst/>
          </a:prstGeom>
          <a:solidFill>
            <a:srgbClr val="7896D2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9233711"/>
            <a:ext cx="45389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8D6F6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· </a:t>
            </a:r>
            <a:pPr algn="l" indent="0" marL="0">
              <a:buNone/>
            </a:pPr>
            <a:r>
              <a:rPr lang="en-US" sz="1350" dirty="0">
                <a:solidFill>
                  <a:srgbClr val="5FE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aig-frontend-blond.vercel.app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913986" y="9233711"/>
            <a:ext cx="9525" cy="219075"/>
          </a:xfrm>
          <a:prstGeom prst="rect">
            <a:avLst/>
          </a:prstGeom>
          <a:solidFill>
            <a:srgbClr val="7896D2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047110" y="9233711"/>
            <a:ext cx="270551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8D6F6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Codebase open-source on GitHub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171161" y="9233711"/>
            <a:ext cx="548481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8D6F6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Vietnamese e-commerce merchants in design-partner conversation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04878" y="514350"/>
            <a:ext cx="81632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737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08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1143000" y="914400"/>
            <a:ext cx="1648206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64" kern="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WHY AIG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43000" y="1319231"/>
            <a:ext cx="7179783" cy="1266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b="1" spc="-102" kern="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Vietnam-first distribution. Arc-first architecture.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1143000" y="3062744"/>
            <a:ext cx="7839075" cy="6386959"/>
          </a:xfrm>
          <a:prstGeom prst="roundRect">
            <a:avLst>
              <a:gd name="adj" fmla="val 2983"/>
            </a:avLst>
          </a:prstGeom>
          <a:solidFill>
            <a:srgbClr val="FFFFFF"/>
          </a:solidFill>
          <a:ln w="9525">
            <a:solidFill>
              <a:srgbClr val="DDE3F0"/>
            </a:solidFill>
            <a:prstDash val="solid"/>
          </a:ln>
          <a:effectLst>
            <a:outerShdw sx="100000" sy="100000" kx="0" ky="0" algn="bl" rotWithShape="0" blurRad="438150" dist="190500" dir="5400000">
              <a:srgbClr val="0F1B3D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71625" y="3491369"/>
            <a:ext cx="71912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REALITY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71625" y="3834269"/>
            <a:ext cx="371091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i="1" spc="-18" kern="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Vietnam: a stablecoin market without Stripe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71625" y="4653419"/>
            <a:ext cx="7191280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63" dirty="0">
                <a:solidFill>
                  <a:srgbClr val="425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holders rank top globally per capita</a:t>
            </a:r>
            <a:endParaRPr lang="en-US" sz="1463" dirty="0"/>
          </a:p>
        </p:txBody>
      </p:sp>
      <p:sp>
        <p:nvSpPr>
          <p:cNvPr id="9" name="Text 7"/>
          <p:cNvSpPr/>
          <p:nvPr/>
        </p:nvSpPr>
        <p:spPr>
          <a:xfrm>
            <a:off x="1790700" y="5103922"/>
            <a:ext cx="240097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63" dirty="0">
                <a:solidFill>
                  <a:srgbClr val="425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sector growing</a:t>
            </a:r>
            <a:endParaRPr lang="en-US" sz="1463" dirty="0"/>
          </a:p>
        </p:txBody>
      </p:sp>
      <p:sp>
        <p:nvSpPr>
          <p:cNvPr id="10" name="Text 8"/>
          <p:cNvSpPr/>
          <p:nvPr/>
        </p:nvSpPr>
        <p:spPr>
          <a:xfrm>
            <a:off x="4258345" y="5084872"/>
            <a:ext cx="899294" cy="29810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&gt;25% YoY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571625" y="5516324"/>
            <a:ext cx="7191280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63" dirty="0">
                <a:solidFill>
                  <a:srgbClr val="425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Stripe alternative missing for USD-native checkout</a:t>
            </a:r>
            <a:endParaRPr lang="en-US" sz="1463" dirty="0"/>
          </a:p>
        </p:txBody>
      </p:sp>
      <p:sp>
        <p:nvSpPr>
          <p:cNvPr id="12" name="Text 10"/>
          <p:cNvSpPr/>
          <p:nvPr/>
        </p:nvSpPr>
        <p:spPr>
          <a:xfrm>
            <a:off x="1571625" y="5947777"/>
            <a:ext cx="7191280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63" dirty="0">
                <a:solidFill>
                  <a:srgbClr val="425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 are local — direct merchant relationships</a:t>
            </a:r>
            <a:endParaRPr lang="en-US" sz="1463" dirty="0"/>
          </a:p>
        </p:txBody>
      </p:sp>
      <p:sp>
        <p:nvSpPr>
          <p:cNvPr id="13" name="Shape 11"/>
          <p:cNvSpPr/>
          <p:nvPr/>
        </p:nvSpPr>
        <p:spPr>
          <a:xfrm>
            <a:off x="9305925" y="3062744"/>
            <a:ext cx="7839075" cy="6386959"/>
          </a:xfrm>
          <a:prstGeom prst="roundRect">
            <a:avLst>
              <a:gd name="adj" fmla="val 2983"/>
            </a:avLst>
          </a:prstGeom>
          <a:solidFill>
            <a:srgbClr val="FFFFFF"/>
          </a:solidFill>
          <a:ln w="9525">
            <a:solidFill>
              <a:srgbClr val="DDE3F0"/>
            </a:solidFill>
            <a:prstDash val="solid"/>
          </a:ln>
          <a:effectLst>
            <a:outerShdw sx="100000" sy="100000" kx="0" ky="0" algn="bl" rotWithShape="0" blurRad="438150" dist="190500" dir="5400000">
              <a:srgbClr val="0F1B3D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734550" y="3491369"/>
            <a:ext cx="71912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069D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 FIT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734550" y="3834269"/>
            <a:ext cx="371091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i="1" spc="-18" kern="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 + CCTPv2 unlocks retail-grade UX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953625" y="4672469"/>
            <a:ext cx="164283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63" dirty="0">
                <a:solidFill>
                  <a:srgbClr val="425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 native USDC at</a:t>
            </a:r>
            <a:endParaRPr lang="en-US" sz="1463" dirty="0"/>
          </a:p>
        </p:txBody>
      </p:sp>
      <p:sp>
        <p:nvSpPr>
          <p:cNvPr id="17" name="Text 15"/>
          <p:cNvSpPr/>
          <p:nvPr/>
        </p:nvSpPr>
        <p:spPr>
          <a:xfrm>
            <a:off x="11663139" y="4653419"/>
            <a:ext cx="1002209" cy="29810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0x36…0000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732023" y="4672469"/>
            <a:ext cx="170676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63" dirty="0">
                <a:solidFill>
                  <a:srgbClr val="425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gas paid in USDC</a:t>
            </a:r>
            <a:endParaRPr lang="en-US" sz="1463" dirty="0"/>
          </a:p>
        </p:txBody>
      </p:sp>
      <p:sp>
        <p:nvSpPr>
          <p:cNvPr id="19" name="Text 17"/>
          <p:cNvSpPr/>
          <p:nvPr/>
        </p:nvSpPr>
        <p:spPr>
          <a:xfrm>
            <a:off x="9953625" y="5103922"/>
            <a:ext cx="190953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63" dirty="0">
                <a:solidFill>
                  <a:srgbClr val="425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CCTPv2 Fast Transfer:</a:t>
            </a:r>
            <a:endParaRPr lang="en-US" sz="1463" dirty="0"/>
          </a:p>
        </p:txBody>
      </p:sp>
      <p:sp>
        <p:nvSpPr>
          <p:cNvPr id="20" name="Text 18"/>
          <p:cNvSpPr/>
          <p:nvPr/>
        </p:nvSpPr>
        <p:spPr>
          <a:xfrm>
            <a:off x="11929839" y="5084872"/>
            <a:ext cx="796454" cy="29810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~30–90s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2792968" y="5103922"/>
            <a:ext cx="179345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63" dirty="0">
                <a:solidFill>
                  <a:srgbClr val="425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15min hard finality</a:t>
            </a:r>
            <a:endParaRPr lang="en-US" sz="1463" dirty="0"/>
          </a:p>
        </p:txBody>
      </p:sp>
      <p:sp>
        <p:nvSpPr>
          <p:cNvPr id="22" name="Text 20"/>
          <p:cNvSpPr/>
          <p:nvPr/>
        </p:nvSpPr>
        <p:spPr>
          <a:xfrm>
            <a:off x="9734550" y="5516324"/>
            <a:ext cx="7191280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63" dirty="0">
                <a:solidFill>
                  <a:srgbClr val="425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bridge tokens — fresh USDC mint on destination</a:t>
            </a:r>
            <a:endParaRPr lang="en-US" sz="1463" dirty="0"/>
          </a:p>
        </p:txBody>
      </p:sp>
      <p:sp>
        <p:nvSpPr>
          <p:cNvPr id="23" name="Text 21"/>
          <p:cNvSpPr/>
          <p:nvPr/>
        </p:nvSpPr>
        <p:spPr>
          <a:xfrm>
            <a:off x="9734550" y="5947777"/>
            <a:ext cx="7191280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63" dirty="0">
                <a:solidFill>
                  <a:srgbClr val="425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Single-call Iris v2 = simpler relay than v1</a:t>
            </a:r>
            <a:endParaRPr lang="en-US" sz="146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04878" y="514350"/>
            <a:ext cx="81632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737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08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1143000" y="914400"/>
            <a:ext cx="1648206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64" kern="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43000" y="1319228"/>
            <a:ext cx="10370806" cy="1266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b="1" spc="-102" kern="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testnet MVP to Vietnamese merchant launch.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2263080" y="3157975"/>
            <a:ext cx="13761839" cy="28575"/>
          </a:xfrm>
          <a:prstGeom prst="roundRect">
            <a:avLst>
              <a:gd name="adj" fmla="val 50000"/>
            </a:avLst>
          </a:prstGeom>
          <a:solidFill>
            <a:srgbClr val="DDE3F0"/>
          </a:solidFill>
          <a:ln/>
        </p:spPr>
      </p:sp>
      <p:sp>
        <p:nvSpPr>
          <p:cNvPr id="6" name="Shape 4"/>
          <p:cNvSpPr/>
          <p:nvPr/>
        </p:nvSpPr>
        <p:spPr>
          <a:xfrm>
            <a:off x="2263080" y="3157975"/>
            <a:ext cx="3302794" cy="28575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7" name="Shape 5"/>
          <p:cNvSpPr/>
          <p:nvPr/>
        </p:nvSpPr>
        <p:spPr>
          <a:xfrm>
            <a:off x="3048000" y="3100825"/>
            <a:ext cx="190500" cy="190500"/>
          </a:xfrm>
          <a:prstGeom prst="ellipse">
            <a:avLst/>
          </a:prstGeom>
          <a:ln w="38100">
            <a:solidFill>
              <a:srgbClr val="F5F7FB"/>
            </a:solidFill>
            <a:prstDash val="solid"/>
          </a:ln>
          <a:effectLst>
            <a:outerShdw sx="100000" sy="100000" kx="0" ky="0" algn="bl" rotWithShape="0" blurRad="101600" dist="50800" dir="16200000">
              <a:srgbClr val="4F46E5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65078" y="3500875"/>
            <a:ext cx="756345" cy="2238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spc="90" kern="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 2026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2252663" y="3743763"/>
            <a:ext cx="1781101" cy="2762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spc="-16" kern="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Mainnet Hardening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1917204" y="4115238"/>
            <a:ext cx="2452018" cy="7453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38" dirty="0">
                <a:solidFill>
                  <a:srgbClr val="737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Multi-sig relay · monitoring · Ethereum + Base + Polygon → Arc mainnet</a:t>
            </a:r>
            <a:endParaRPr lang="en-US" sz="1238" dirty="0"/>
          </a:p>
        </p:txBody>
      </p:sp>
      <p:sp>
        <p:nvSpPr>
          <p:cNvPr id="11" name="Shape 9"/>
          <p:cNvSpPr/>
          <p:nvPr/>
        </p:nvSpPr>
        <p:spPr>
          <a:xfrm>
            <a:off x="7048500" y="3100825"/>
            <a:ext cx="190500" cy="190500"/>
          </a:xfrm>
          <a:prstGeom prst="ellipse">
            <a:avLst/>
          </a:prstGeom>
          <a:ln w="38100">
            <a:solidFill>
              <a:srgbClr val="F5F7FB"/>
            </a:solidFill>
            <a:prstDash val="solid"/>
          </a:ln>
          <a:effectLst>
            <a:outerShdw sx="100000" sy="100000" kx="0" ky="0" algn="bl" rotWithShape="0" blurRad="101600" dist="50800" dir="16200000">
              <a:srgbClr val="00C2A8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65578" y="3500875"/>
            <a:ext cx="756345" cy="2238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spc="90" kern="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 2026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6262613" y="3743763"/>
            <a:ext cx="1762274" cy="2762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spc="-16" kern="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Features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5917704" y="4115238"/>
            <a:ext cx="2452018" cy="7453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38" dirty="0">
                <a:solidFill>
                  <a:srgbClr val="737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analytics · settlement webhooks · refund flow · 5 design partners</a:t>
            </a:r>
            <a:endParaRPr lang="en-US" sz="1238" dirty="0"/>
          </a:p>
        </p:txBody>
      </p:sp>
      <p:sp>
        <p:nvSpPr>
          <p:cNvPr id="15" name="Shape 13"/>
          <p:cNvSpPr/>
          <p:nvPr/>
        </p:nvSpPr>
        <p:spPr>
          <a:xfrm>
            <a:off x="11049000" y="3100825"/>
            <a:ext cx="190500" cy="190500"/>
          </a:xfrm>
          <a:prstGeom prst="ellipse">
            <a:avLst/>
          </a:prstGeom>
          <a:ln w="38100">
            <a:solidFill>
              <a:srgbClr val="F5F7FB"/>
            </a:solidFill>
            <a:prstDash val="solid"/>
          </a:ln>
          <a:effectLst>
            <a:outerShdw sx="100000" sy="100000" kx="0" ky="0" algn="bl" rotWithShape="0" blurRad="101600" dist="50800" dir="16200000">
              <a:srgbClr val="E8A33D">
                <a:alpha val="1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766078" y="3500875"/>
            <a:ext cx="756345" cy="2238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spc="90" kern="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2027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0176570" y="3743763"/>
            <a:ext cx="1935361" cy="2762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spc="-16" kern="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Plugins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9918204" y="4115238"/>
            <a:ext cx="2452018" cy="7453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38" dirty="0">
                <a:solidFill>
                  <a:srgbClr val="737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WooCommerce + Shopify · KYC/AML hooks · external smart-contract audit</a:t>
            </a:r>
            <a:endParaRPr lang="en-US" sz="1238" dirty="0"/>
          </a:p>
        </p:txBody>
      </p:sp>
      <p:sp>
        <p:nvSpPr>
          <p:cNvPr id="19" name="Shape 17"/>
          <p:cNvSpPr/>
          <p:nvPr/>
        </p:nvSpPr>
        <p:spPr>
          <a:xfrm>
            <a:off x="15049500" y="3100825"/>
            <a:ext cx="190500" cy="190500"/>
          </a:xfrm>
          <a:prstGeom prst="ellipse">
            <a:avLst/>
          </a:prstGeom>
          <a:ln w="38100">
            <a:solidFill>
              <a:srgbClr val="F5F7FB"/>
            </a:solidFill>
            <a:prstDash val="solid"/>
          </a:ln>
          <a:effectLst>
            <a:outerShdw sx="100000" sy="100000" kx="0" ky="0" algn="bl" rotWithShape="0" blurRad="101600" dist="50800" dir="16200000">
              <a:srgbClr val="069D88">
                <a:alpha val="10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4766578" y="3500875"/>
            <a:ext cx="756345" cy="2238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spc="90" kern="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 2027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4380890" y="3743763"/>
            <a:ext cx="1527721" cy="2762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spc="-16" kern="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Launch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13918704" y="4115238"/>
            <a:ext cx="2452018" cy="7453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38" dirty="0">
                <a:solidFill>
                  <a:srgbClr val="737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onboarding program · sales pipeline · support content · revenue</a:t>
            </a:r>
            <a:endParaRPr lang="en-US" sz="1238" dirty="0"/>
          </a:p>
        </p:txBody>
      </p:sp>
      <p:sp>
        <p:nvSpPr>
          <p:cNvPr id="23" name="Shape 21"/>
          <p:cNvSpPr/>
          <p:nvPr/>
        </p:nvSpPr>
        <p:spPr>
          <a:xfrm>
            <a:off x="1143000" y="8809356"/>
            <a:ext cx="16002000" cy="642938"/>
          </a:xfrm>
          <a:prstGeom prst="roundRect">
            <a:avLst>
              <a:gd name="adj" fmla="val 20741"/>
            </a:avLst>
          </a:prstGeom>
          <a:solidFill>
            <a:srgbClr val="FFFFFF"/>
          </a:solidFill>
          <a:ln w="9525">
            <a:solidFill>
              <a:srgbClr val="DDE3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66875" y="9028431"/>
            <a:ext cx="1237403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integration timeline: </a:t>
            </a:r>
            <a:pPr algn="l" indent="0" marL="0">
              <a:buNone/>
            </a:pPr>
            <a:r>
              <a:rPr lang="en-US" sz="1350" i="1" dirty="0">
                <a:solidFill>
                  <a:srgbClr val="425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 + CCTPv2 already integrated · Q3 add Paymaster for sponsored gas · Q4 evaluate Circle Wallets for embedded merchants.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C2A8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6404878" y="514350"/>
            <a:ext cx="81632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58" kern="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</a:t>
            </a:r>
            <a:pPr algn="l" indent="0" marL="0">
              <a:buNone/>
            </a:pPr>
            <a:r>
              <a:rPr lang="en-US" sz="1125" spc="158" kern="0" dirty="0">
                <a:solidFill>
                  <a:srgbClr val="B4C8F0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08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143000" y="914400"/>
            <a:ext cx="1648206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64" kern="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THE ASK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1319230"/>
            <a:ext cx="9573069" cy="1266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b="1" spc="-102" kern="0" dirty="0">
                <a:solidFill>
                  <a:srgbClr val="EA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us ship the first Stripe-class USDC checkout on Arc.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143000" y="2929385"/>
            <a:ext cx="164820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231" kern="0" dirty="0">
                <a:solidFill>
                  <a:srgbClr val="B4C8F0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OF FUNDS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143000" y="3538985"/>
            <a:ext cx="5156150" cy="2033588"/>
          </a:xfrm>
          <a:prstGeom prst="roundRect">
            <a:avLst>
              <a:gd name="adj" fmla="val 8431"/>
            </a:avLst>
          </a:prstGeom>
          <a:solidFill>
            <a:srgbClr val="00C2A8">
              <a:alpha val="7000"/>
            </a:srgbClr>
          </a:solidFill>
          <a:ln w="9525">
            <a:solidFill>
              <a:srgbClr val="00C2A8">
                <a:alpha val="3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76375" y="3891410"/>
            <a:ext cx="462408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05" kern="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476375" y="4272410"/>
            <a:ext cx="462408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1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&amp; Security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476375" y="4686747"/>
            <a:ext cx="462408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C8D6F6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smart-contract audit before mainnet — required for merchant trust.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565850" y="3538985"/>
            <a:ext cx="5156225" cy="2033588"/>
          </a:xfrm>
          <a:prstGeom prst="roundRect">
            <a:avLst>
              <a:gd name="adj" fmla="val 8431"/>
            </a:avLst>
          </a:prstGeom>
          <a:solidFill>
            <a:srgbClr val="00C2A8">
              <a:alpha val="7000"/>
            </a:srgbClr>
          </a:solidFill>
          <a:ln w="9525">
            <a:solidFill>
              <a:srgbClr val="00C2A8">
                <a:alpha val="3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99225" y="3891410"/>
            <a:ext cx="462415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05" kern="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99225" y="4272410"/>
            <a:ext cx="462415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1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Mainnet Operations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6899225" y="4686747"/>
            <a:ext cx="4624159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C8D6F6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 mainnet gas + admin-wallet liquidity for first cohort of merchants.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1988775" y="3538985"/>
            <a:ext cx="5156150" cy="2033588"/>
          </a:xfrm>
          <a:prstGeom prst="roundRect">
            <a:avLst>
              <a:gd name="adj" fmla="val 8431"/>
            </a:avLst>
          </a:prstGeom>
          <a:solidFill>
            <a:srgbClr val="00C2A8">
              <a:alpha val="7000"/>
            </a:srgbClr>
          </a:solidFill>
          <a:ln w="9525">
            <a:solidFill>
              <a:srgbClr val="00C2A8">
                <a:alpha val="3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22150" y="3891410"/>
            <a:ext cx="462408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05" kern="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2322150" y="4272410"/>
            <a:ext cx="462408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1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 Engineering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2322150" y="4686747"/>
            <a:ext cx="462408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C8D6F6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engineer for WooCommerce + Shopify integrations.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143000" y="5899045"/>
            <a:ext cx="16002000" cy="729555"/>
          </a:xfrm>
          <a:prstGeom prst="roundRect">
            <a:avLst>
              <a:gd name="adj" fmla="val 20889"/>
            </a:avLst>
          </a:prstGeom>
          <a:solidFill>
            <a:srgbClr val="4F46E5">
              <a:alpha val="16000"/>
            </a:srgbClr>
          </a:solidFill>
          <a:ln w="9525">
            <a:solidFill>
              <a:srgbClr val="8B85F5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04975" y="6137170"/>
            <a:ext cx="11114430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funding: </a:t>
            </a:r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DC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co-marketing amplifies our Vietnam GTM · technical mentorship from the CCTP team de-risks mainnet scaling.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1143000" y="6990550"/>
            <a:ext cx="342900" cy="3429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6990550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60" kern="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1638300" y="7073894"/>
            <a:ext cx="116606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60" kern="0" dirty="0">
                <a:solidFill>
                  <a:srgbClr val="BACAEE">
                    <a:alpha val="7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Baobao Gems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80568" y="7073894"/>
            <a:ext cx="17532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60" kern="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132088" y="7073894"/>
            <a:ext cx="166144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60" kern="0" dirty="0">
                <a:solidFill>
                  <a:srgbClr val="BACAEE">
                    <a:alpha val="7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 Chi Minh City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69731" y="7073894"/>
            <a:ext cx="17532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60" kern="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21250" y="7073894"/>
            <a:ext cx="126511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60" kern="0" dirty="0">
                <a:solidFill>
                  <a:srgbClr val="BACAEE">
                    <a:alpha val="7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@baobao_gems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62564" y="7073894"/>
            <a:ext cx="17532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60" kern="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14083" y="7073894"/>
            <a:ext cx="96790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60" kern="0" dirty="0">
                <a:solidFill>
                  <a:srgbClr val="BACAEE">
                    <a:alpha val="7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June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2026-06-11T17:59:14Z</dcterms:created>
  <dcterms:modified xsi:type="dcterms:W3CDTF">2026-06-11T17:59:14Z</dcterms:modified>
</cp:coreProperties>
</file>